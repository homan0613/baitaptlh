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8EDF5"/>
                </a:solidFill>
                <a:latin typeface="Calibri"/>
              </a:rPr>
              <a:t>Diều gì xảy ra trong não bộ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FF"/>
                </a:solidFill>
                <a:latin typeface="Calibri"/>
              </a:rPr>
              <a:t>khi chúng ta uống rượu?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3566160"/>
            <a:ext cx="10058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A8BA5"/>
                </a:solidFill>
                <a:latin typeface="Calibri"/>
              </a:rPr>
              <a:t>Hành trình của ethanol — từ ly rượu đến tế bào thần kinh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51960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A8BA5"/>
                </a:solidFill>
                <a:latin typeface="Calibri"/>
              </a:rPr>
              <a:t>Cơ chế  ·  Tác động  ·  Nghiện  ·  Phục hồi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Tổng quan 6 phần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27632"/>
            <a:ext cx="3474720" cy="1389888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4655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719072"/>
            <a:ext cx="2907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DF5"/>
                </a:solidFill>
                <a:latin typeface="Calibri"/>
              </a:rPr>
              <a:t>1. Đường đi của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103120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Từ đường tiêu hóa đến hàng rào máu não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627632"/>
            <a:ext cx="3474720" cy="1389888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171907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514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719072"/>
            <a:ext cx="2907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DF5"/>
                </a:solidFill>
                <a:latin typeface="Calibri"/>
              </a:rPr>
              <a:t>2. Chất dẫn truyền thần kinh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2103120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GABA, Glutamate và thụ thể mục tiêu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1856" y="1627632"/>
            <a:ext cx="3474720" cy="1389888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1719072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31D3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1719072"/>
            <a:ext cx="2907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DF5"/>
                </a:solidFill>
                <a:latin typeface="Calibri"/>
              </a:rPr>
              <a:t>3. Vùng não bị ảnh hưởng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103120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6 vùng não và biểu hiện thực tế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00400"/>
            <a:ext cx="3474720" cy="1389888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1370B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291840"/>
            <a:ext cx="2907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DF5"/>
                </a:solidFill>
                <a:latin typeface="Calibri"/>
              </a:rPr>
              <a:t>4. Ảnh hưởng cấp &amp; mãn tính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675888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Ngắn hạn và tổn thương vĩnh viễn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3200400"/>
            <a:ext cx="3474720" cy="1389888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3291840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1914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3291840"/>
            <a:ext cx="2907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DF5"/>
                </a:solidFill>
                <a:latin typeface="Calibri"/>
              </a:rPr>
              <a:t>5. Vòng lặp nghiện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3675888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Thích nghi thần kinh và cơ chế nghiện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91856" y="3200400"/>
            <a:ext cx="3474720" cy="1389888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3291840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4425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3291840"/>
            <a:ext cx="2907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EDF5"/>
                </a:solidFill>
                <a:latin typeface="Calibri"/>
              </a:rPr>
              <a:t>6. Điều trị &amp; Phục hồi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3675888"/>
            <a:ext cx="2907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Các phương pháp và liệu pháp hiện đại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914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>
                <a:solidFill>
                  <a:srgbClr val="0F1E3C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EDF5"/>
                </a:solidFill>
                <a:latin typeface="Calibri"/>
              </a:rPr>
              <a:t>Từ đường tiêu hóa đến não bộ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4297680"/>
            <a:ext cx="10058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A5"/>
                </a:solidFill>
                <a:latin typeface="Calibri"/>
              </a:rPr>
              <a:t>Ethanol được hấp thu như thế nào và làm thế nào để xâm nhập vào hệ thần kinh trung ương?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Hành trình của Ethanol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011680"/>
            <a:ext cx="1737360" cy="109728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FF"/>
                </a:solidFill>
                <a:latin typeface="Calibri"/>
              </a:rPr>
              <a:t>Miệng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BA5"/>
                </a:solidFill>
                <a:latin typeface="Calibri"/>
              </a:rPr>
              <a:t>~5%
niêm mạc miệng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3172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D7AF5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4912" y="2011680"/>
            <a:ext cx="1737360" cy="109728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21031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  <a:latin typeface="Calibri"/>
              </a:rPr>
              <a:t>Dạ dày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2514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BA5"/>
                </a:solidFill>
                <a:latin typeface="Calibri"/>
              </a:rPr>
              <a:t>~20%
qua niêm mạc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33172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D7AF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46904" y="2011680"/>
            <a:ext cx="1737360" cy="109728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46904" y="21031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CC71"/>
                </a:solidFill>
                <a:latin typeface="Calibri"/>
              </a:rPr>
              <a:t>Ruột non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2514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BA5"/>
                </a:solidFill>
                <a:latin typeface="Calibri"/>
              </a:rPr>
              <a:t>~75%
vào máu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233172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D7AF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011680"/>
            <a:ext cx="1737360" cy="109728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1031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74C3C"/>
                </a:solidFill>
                <a:latin typeface="Calibri"/>
              </a:rPr>
              <a:t>Tuần hoàn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2514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BA5"/>
                </a:solidFill>
                <a:latin typeface="Calibri"/>
              </a:rPr>
              <a:t>Qua gan
khắp cơ thể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2331720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D7AF5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90888" y="2011680"/>
            <a:ext cx="1737360" cy="109728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21031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B59B6"/>
                </a:solidFill>
                <a:latin typeface="Calibri"/>
              </a:rPr>
              <a:t>Não bộ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514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BA5"/>
                </a:solidFill>
                <a:latin typeface="Calibri"/>
              </a:rPr>
              <a:t>Vượt
BBB</a:t>
            </a:r>
          </a:p>
        </p:txBody>
      </p:sp>
      <p:pic>
        <p:nvPicPr>
          <p:cNvPr id="23" name="Picture 22" descr="ethanol_ste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337560"/>
            <a:ext cx="3108960" cy="21945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2920" y="55778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BA5"/>
                </a:solidFill>
                <a:latin typeface="Calibri"/>
              </a:rPr>
              <a:t>Uống rượu</a:t>
            </a:r>
          </a:p>
        </p:txBody>
      </p:sp>
      <p:pic>
        <p:nvPicPr>
          <p:cNvPr id="25" name="Picture 24" descr="ethanol_step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337560"/>
            <a:ext cx="3108960" cy="21945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86200" y="55778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BA5"/>
                </a:solidFill>
                <a:latin typeface="Calibri"/>
              </a:rPr>
              <a:t>Hấp thu ruột non</a:t>
            </a:r>
          </a:p>
        </p:txBody>
      </p:sp>
      <p:pic>
        <p:nvPicPr>
          <p:cNvPr id="27" name="Picture 26" descr="ethanol_step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3337560"/>
            <a:ext cx="3108960" cy="21945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69480" y="55778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BA5"/>
                </a:solidFill>
                <a:latin typeface="Calibri"/>
              </a:rPr>
              <a:t>Vượt hàng rào BBB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833872"/>
            <a:ext cx="11183112" cy="594360"/>
          </a:xfrm>
          <a:prstGeom prst="rect">
            <a:avLst/>
          </a:prstGeom>
          <a:solidFill>
            <a:srgbClr val="003246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8795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D4FF"/>
                </a:solidFill>
                <a:latin typeface="Calibri"/>
              </a:rPr>
              <a:t>🔑  Phân tử nhỏ, tan trong cả nước và mỡ → dễ dàng vượt BBB tiếp cận tế bào thần kinh.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914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>
                <a:solidFill>
                  <a:srgbClr val="0F1E3C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EDF5"/>
                </a:solidFill>
                <a:latin typeface="Calibri"/>
              </a:rPr>
              <a:t>Ethanol tác động lên
các chất dẫn truyền thần kinh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4297680"/>
            <a:ext cx="1005840" cy="381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A5"/>
                </a:solidFill>
                <a:latin typeface="Calibri"/>
              </a:rPr>
              <a:t>Hai hệ thống chính: GABA (ức chế) và Glutamate (hưng phấn)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GABA — Chân Phanh của Não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3657600" cy="43891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Calibri"/>
              </a:rPr>
              <a:t>BÌNH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A5"/>
                </a:solidFill>
                <a:latin typeface="Calibri"/>
              </a:rPr>
              <a:t>GABA gắn vào thụ thể GABA-A
Mở kênh ion Cl⁻ vào tế bào
→ Giảm khả năng phát điện thế
→ Ức chế thần kinh
⚖️  Duy trì cân bằng hoạt động thần kinh</a:t>
            </a:r>
          </a:p>
        </p:txBody>
      </p:sp>
      <p:pic>
        <p:nvPicPr>
          <p:cNvPr id="7" name="Picture 6" descr="ga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347472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1463040"/>
            <a:ext cx="3657600" cy="4389120"/>
          </a:xfrm>
          <a:prstGeom prst="rect">
            <a:avLst/>
          </a:prstGeom>
          <a:solidFill>
            <a:srgbClr val="1220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572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74C3C"/>
                </a:solidFill>
                <a:latin typeface="Calibri"/>
              </a:rPr>
              <a:t>+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196596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A5"/>
                </a:solidFill>
                <a:latin typeface="Calibri"/>
              </a:rPr>
              <a:t>Ethanol TĂNG CƯỜNG GABA-A
Kênh Cl⁻ mở lâu hơn / nhiều hơn
→ Ức chế mạnh hơn
Hậu quả:
  Buồn ngủ  ·  Phản xạ chậm
  Mất phối hợp vận động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Glutamate — Chân Ga của Não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3657600" cy="43891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BÌNH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A5"/>
                </a:solidFill>
                <a:latin typeface="Calibri"/>
              </a:rPr>
              <a:t>Glutamate gắn vào thụ thể NMDA
Mở kênh Na⁺, Ca²⁺ vào tế bào
→ Kích hoạt neuron
Hỗ trợ tính dẻ0o synapse
Tham gia tư duy · học tập · ghi nhớ</a:t>
            </a:r>
          </a:p>
        </p:txBody>
      </p:sp>
      <p:pic>
        <p:nvPicPr>
          <p:cNvPr id="7" name="Picture 6" descr="gluta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347472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1463040"/>
            <a:ext cx="3657600" cy="4389120"/>
          </a:xfrm>
          <a:prstGeom prst="rect">
            <a:avLst/>
          </a:prstGeom>
          <a:solidFill>
            <a:srgbClr val="12203C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5727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74C3C"/>
                </a:solidFill>
                <a:latin typeface="Calibri"/>
              </a:rPr>
              <a:t>+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196596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A5"/>
                </a:solidFill>
                <a:latin typeface="Calibri"/>
              </a:rPr>
              <a:t>Ethanol ỨC CHẾ—thụ thể NMDA
Dòng Na⁺, Ca²⁺ vào tế bào giảm
Truyền tín hiệu hưng phấn bị gián đoạn
Hậu quả:
  Giảm trí nhớ  ·  Chậm tư duy
  Kém tập trung  ·  Blackout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GABA vs Glutamate — Tóm tắt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2286000" cy="384048"/>
          </a:xfrm>
          <a:prstGeom prst="rect">
            <a:avLst/>
          </a:prstGeom>
          <a:solidFill>
            <a:srgbClr val="142341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3677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A8BA5"/>
                </a:solidFill>
                <a:latin typeface="Calibri"/>
              </a:rPr>
              <a:t>Tiêu chí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600200"/>
            <a:ext cx="4297680" cy="384048"/>
          </a:xfrm>
          <a:prstGeom prst="rect">
            <a:avLst/>
          </a:prstGeom>
          <a:solidFill>
            <a:srgbClr val="142341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16352" y="1636776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Calibri"/>
              </a:rPr>
              <a:t>He GABA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600200"/>
            <a:ext cx="4297680" cy="384048"/>
          </a:xfrm>
          <a:prstGeom prst="rect">
            <a:avLst/>
          </a:prstGeom>
          <a:solidFill>
            <a:srgbClr val="142341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4032" y="1636776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Calibri"/>
              </a:rPr>
              <a:t>He Glutamate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2286000" cy="5943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05740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EDF5"/>
                </a:solidFill>
                <a:latin typeface="Calibri"/>
              </a:rPr>
              <a:t>Vai trò sinh lý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984248"/>
            <a:ext cx="4297680" cy="5943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2057400"/>
            <a:ext cx="4206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Ức chế — làm dịu hoạt động TK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984248"/>
            <a:ext cx="4297680" cy="5943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2057400"/>
            <a:ext cx="4206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Hưng phấn — kích thích tư duy, ghi nhớ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78608"/>
            <a:ext cx="2286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65176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EDF5"/>
                </a:solidFill>
                <a:latin typeface="Calibri"/>
              </a:rPr>
              <a:t>Thụ thể mục tiêu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578608"/>
            <a:ext cx="429768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6352" y="2651760"/>
            <a:ext cx="4206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GABA-A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2578608"/>
            <a:ext cx="429768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2651760"/>
            <a:ext cx="4206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NMDA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72968"/>
            <a:ext cx="2286000" cy="5943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24612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EDF5"/>
                </a:solidFill>
                <a:latin typeface="Calibri"/>
              </a:rPr>
              <a:t>Ion liên quan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3172968"/>
            <a:ext cx="4297680" cy="5943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3246120"/>
            <a:ext cx="4206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Cl⁻ (âm) vào → ức chế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3172968"/>
            <a:ext cx="4297680" cy="5943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3246120"/>
            <a:ext cx="4206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Na⁺, Ca²⁺ (dương) vào → kích thích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67328"/>
            <a:ext cx="2286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84048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EDF5"/>
                </a:solidFill>
                <a:latin typeface="Calibri"/>
              </a:rPr>
              <a:t>Tác động Ethanol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3767328"/>
            <a:ext cx="429768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3840480"/>
            <a:ext cx="4206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TĂNG CƯỜNG — mở kênh Cl⁻ lâu hơn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767328"/>
            <a:ext cx="429768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2" y="3840480"/>
            <a:ext cx="4206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ỨC CHẾ — ngăn ion dương vào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361688"/>
            <a:ext cx="2286000" cy="5943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43484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EDF5"/>
                </a:solidFill>
                <a:latin typeface="Calibri"/>
              </a:rPr>
              <a:t>Ẩn dụ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4361688"/>
            <a:ext cx="4297680" cy="5943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16352" y="4434840"/>
            <a:ext cx="4206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Đạp mạnh chân phanh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4361688"/>
            <a:ext cx="4297680" cy="5943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2" y="4434840"/>
            <a:ext cx="4206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Nhả chân ga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956048"/>
            <a:ext cx="2286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502920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EDF5"/>
                </a:solidFill>
                <a:latin typeface="Calibri"/>
              </a:rPr>
              <a:t>Hậu quả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4956048"/>
            <a:ext cx="429768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16352" y="5029200"/>
            <a:ext cx="4206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Buồn ngủ · Phản xạ chậm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4956048"/>
            <a:ext cx="429768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14032" y="5029200"/>
            <a:ext cx="42062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Suy giảm trí nhớ · Blackout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33872"/>
            <a:ext cx="10908792" cy="621792"/>
          </a:xfrm>
          <a:prstGeom prst="rect">
            <a:avLst/>
          </a:prstGeom>
          <a:solidFill>
            <a:srgbClr val="002832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879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F5D4"/>
                </a:solidFill>
                <a:latin typeface="Calibri"/>
              </a:rPr>
              <a:t>Tong hop: Ethanol dong thoi TANG uc che GABA va GIAM hung phan Glutamate — ca hai huong deu lam CHAM toan bo hoat dong than kinh.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914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>
                <a:solidFill>
                  <a:srgbClr val="0F1E3C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EDF5"/>
                </a:solidFill>
                <a:latin typeface="Calibri"/>
              </a:rPr>
              <a:t>Ethanol ảnh hưởng đến những vùng não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4297680"/>
            <a:ext cx="1005840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A5"/>
                </a:solidFill>
                <a:latin typeface="Calibri"/>
              </a:rPr>
              <a:t>6 vùng não bị ảnh hưởng — mỗi vùng gây ra những biểu hiện khác nhau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6 Vùng Não Bị Ảnh Hưởng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5303520" cy="14173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733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Calibri"/>
              </a:rPr>
              <a:t>Vỏ não trước trán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391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Phán đoán · Kiểm soát xung động · Ra quyết định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DF5"/>
                </a:solidFill>
                <a:latin typeface="Calibri"/>
              </a:rPr>
              <a:t>Ethanol ức chế PFC → Mất kiểm soát, hành động bóc đồng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600200"/>
            <a:ext cx="5303520" cy="14173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733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Hạch hạnh nhân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0391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Cảm xúc · Phản ứng sợ hãi · Lo âu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42316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DF5"/>
                </a:solidFill>
                <a:latin typeface="Calibri"/>
              </a:rPr>
              <a:t>Liều thấp: giảm lo âu. Liều cao/cai: lo âu tăng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5303520" cy="14173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735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  <a:latin typeface="Calibri"/>
              </a:rPr>
              <a:t>Hồi hải mã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393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Hình thành ký ức · Học tập · Định hướng không gian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DF5"/>
                </a:solidFill>
                <a:latin typeface="Calibri"/>
              </a:rPr>
              <a:t>Ức chế NMDA → Blackout — không thể tạo ký ức mới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200400"/>
            <a:ext cx="5303520" cy="14173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2735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5D4"/>
                </a:solidFill>
                <a:latin typeface="Calibri"/>
              </a:rPr>
              <a:t>Tiểu não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6393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Phối hợp vận động · Thăng bằng · Nhịp điệu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02336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DF5"/>
                </a:solidFill>
                <a:latin typeface="Calibri"/>
              </a:rPr>
              <a:t>Dáng đi loạng choạng · Nói líu lưỡi · Mất thăng bằng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800600"/>
            <a:ext cx="5303520" cy="14173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737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Calibri"/>
              </a:rPr>
              <a:t>Nhân accumbens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395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Hệ thống phần thưởng · Dopamine · Động lực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2356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DF5"/>
                </a:solidFill>
                <a:latin typeface="Calibri"/>
              </a:rPr>
              <a:t>Tăng Dopamine → cảm giác dễ chịu → cơ sở tạo nghiện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800600"/>
            <a:ext cx="5303520" cy="14173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8737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B59B6"/>
                </a:solidFill>
                <a:latin typeface="Calibri"/>
              </a:rPr>
              <a:t>Vùng dưới đồi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2395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Điều hòa nội tiết · Thân nhiệt · Nhịp sinh học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62356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DF5"/>
                </a:solidFill>
                <a:latin typeface="Calibri"/>
              </a:rPr>
              <a:t>Ức chế ADH → đi tiểu nhiều · Hạ thân nhiệt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Hình ảnh các vùng não bị ảnh hưởng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efr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347472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66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/>
              </a:rPr>
              <a:t>Vỏ não trước trán (PFC)</a:t>
            </a:r>
          </a:p>
        </p:txBody>
      </p:sp>
      <p:pic>
        <p:nvPicPr>
          <p:cNvPr id="6" name="Picture 5" descr="amygda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1600200"/>
            <a:ext cx="34747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33088" y="5166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A623"/>
                </a:solidFill>
                <a:latin typeface="Calibri"/>
              </a:rPr>
              <a:t>Hạch hạnh nhân</a:t>
            </a:r>
          </a:p>
        </p:txBody>
      </p:sp>
      <p:pic>
        <p:nvPicPr>
          <p:cNvPr id="8" name="Picture 7" descr="hippocamp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1600200"/>
            <a:ext cx="347472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08976" y="5166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CC71"/>
                </a:solidFill>
                <a:latin typeface="Calibri"/>
              </a:rPr>
              <a:t>Hồi hải mã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Alcohol-Induced Blackout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A8BA5"/>
                </a:solidFill>
                <a:latin typeface="Calibri"/>
              </a:rPr>
              <a:t>Khi Hippocampus bị ảnh hưởng nặng — không thể tạo ký ức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38528"/>
            <a:ext cx="3566160" cy="30175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482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5D4"/>
                </a:solidFill>
                <a:latin typeface="Calibri"/>
              </a:rPr>
              <a:t>VAN CO THE...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33375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- Nói chuyện, tương tác người khác
- Đi lại, thực hiện hoạt động thông thường
- Nhìn có vẻ 'tỉnh táo' với người ngoài
- Phản ứng với môi trường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938528"/>
            <a:ext cx="3566160" cy="30175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20482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Calibri"/>
              </a:rPr>
              <a:t>SAU DO khong the...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468880"/>
            <a:ext cx="33375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- Nhớ lại những gì đã xảy ra
- Hình thành ký ức mới trong giai đoạn đó
- Giải thích hành động của mình
- Có trí nhớ liên tục về buổi tối đó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1938528"/>
            <a:ext cx="3566160" cy="30175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0456" y="20482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7AF5"/>
                </a:solidFill>
                <a:latin typeface="Calibri"/>
              </a:rPr>
              <a:t>Co 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2468880"/>
            <a:ext cx="33375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- Ethanol ức chế thụ thể NMDA
- Phá vỡ tính dẻ0o synapse
- Hippocampus không ghi nhận thông tin mới
- Ký ức ngắn hạn → dài hạn bị gián đoạn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138928"/>
            <a:ext cx="11274552" cy="530352"/>
          </a:xfrm>
          <a:prstGeom prst="rect">
            <a:avLst/>
          </a:prstGeom>
          <a:solidFill>
            <a:srgbClr val="321E0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1846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A623"/>
                </a:solidFill>
                <a:latin typeface="Calibri"/>
              </a:rPr>
              <a:t>Blackout != Bat tinh. Nguoi dang blackout van co the thuc hien hanh vi nguy hiem ma khong co ky uc sau 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914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>
                <a:solidFill>
                  <a:srgbClr val="0F1E3C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EDF5"/>
                </a:solidFill>
                <a:latin typeface="Calibri"/>
              </a:rPr>
              <a:t>Ảnh hưởng cấp tính &amp; mãn tính của rượu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4297680"/>
            <a:ext cx="100584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A5"/>
                </a:solidFill>
                <a:latin typeface="Calibri"/>
              </a:rPr>
              <a:t>Từ say rượu cấp tính đến tổn thương não vĩnh viễn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Ảnh hưởng Ngắn Hạn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5303520" cy="39319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Vỏ não &amp; Thùy não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A5"/>
                </a:solidFill>
                <a:latin typeface="Calibri"/>
              </a:rPr>
              <a:t>Ức chế vùng Broca (thùy trán) → nói líu lưỡi
Vùng Wernicke (thùy thái dương) → rối loạn hiểu ngôn ngữ
CT scan: teo vỏ não toàn thể
→ Suy giảm phán đoán, tư duy logic, kiểm soát xung động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00200"/>
            <a:ext cx="5303520" cy="39319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B59B6"/>
                </a:solidFill>
                <a:latin typeface="Calibri"/>
              </a:rPr>
              <a:t>Tiểu não &amp; Thân não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48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A5"/>
                </a:solidFill>
                <a:latin typeface="Calibri"/>
              </a:rPr>
              <a:t>Thoái hóa tế bào Purkinje → teo tiểu não
(đặc biệt thùy nhộng – vermis)
CT scan: giãn rộng rãnh tiểu não và bề não sau
→ Giảm trương lực cơ
→ Mất phối hợp vận động · Dáng đi thất điều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10908792" cy="594360"/>
          </a:xfrm>
          <a:prstGeom prst="rect">
            <a:avLst/>
          </a:prstGeom>
          <a:solidFill>
            <a:srgbClr val="142341"/>
          </a:solidFill>
          <a:ln w="12700">
            <a:solidFill>
              <a:srgbClr val="3D7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D7AF5"/>
                </a:solidFill>
                <a:latin typeface="Calibri"/>
              </a:rPr>
              <a:t>CT scan: Lam dung ruou man tinh gay teo nao toan the, teo tieu nao. Muc teo tuong quan thuan voi thoi gian va muc do lam dung.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Tổn Thương Mãn Tính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474720" cy="420624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Calibri"/>
              </a:rPr>
              <a:t>Chất trắng &amp; Não thất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76272"/>
            <a:ext cx="32461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A8BA5"/>
                </a:solidFill>
                <a:latin typeface="Calibri"/>
              </a:rPr>
              <a:t>Chết nơ-ron → giãn não thất bên, III &amp; IV
Teo thể chai
Hội chứng Marchiafava-Bignami
→ Sa sút trí tuệ do rượu (ARD)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600200"/>
            <a:ext cx="3474720" cy="420624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16916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Calibri"/>
              </a:rPr>
              <a:t>Thùy chẩm &amp; Thùy đảo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2176272"/>
            <a:ext cx="32461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A8BA5"/>
                </a:solidFill>
                <a:latin typeface="Calibri"/>
              </a:rPr>
              <a:t>Thùy chẩm: ảo giác kinh hoàng (sảng run)
Thùy đảo: tái cấu trúc → phát xung báo động liên tục
→ Cơn thèm cồn cưỡng chế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0416" y="1600200"/>
            <a:ext cx="3474720" cy="420624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7576" y="16916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59B6"/>
                </a:solidFill>
                <a:latin typeface="Calibri"/>
              </a:rPr>
              <a:t>Đồi thị &amp; Tiểu não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7576" y="2176272"/>
            <a:ext cx="32461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A8BA5"/>
                </a:solidFill>
                <a:latin typeface="Calibri"/>
              </a:rPr>
              <a:t>Thiếu Vitamin B1 → xuất huyết hoại tử đồi thị-thể vú
Hội chứng Wernicke-Korsakoff
→ Tam chứng thất điều vĩnh viễn:
   đi lảo đảo · chỉ trượt đích · nhãn cầu rung giật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Wernicke vs Korsakoff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2103120" cy="347472"/>
          </a:xfrm>
          <a:prstGeom prst="rect">
            <a:avLst/>
          </a:prstGeom>
          <a:solidFill>
            <a:srgbClr val="142341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60934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A8BA5"/>
                </a:solidFill>
                <a:latin typeface="Calibri"/>
              </a:rPr>
              <a:t>Tieu chi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572768"/>
            <a:ext cx="4389120" cy="347472"/>
          </a:xfrm>
          <a:prstGeom prst="rect">
            <a:avLst/>
          </a:prstGeom>
          <a:solidFill>
            <a:srgbClr val="142341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33472" y="160934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A623"/>
                </a:solidFill>
                <a:latin typeface="Calibri"/>
              </a:rPr>
              <a:t>Wernicke (WE)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572768"/>
            <a:ext cx="4389120" cy="347472"/>
          </a:xfrm>
          <a:prstGeom prst="rect">
            <a:avLst/>
          </a:prstGeom>
          <a:solidFill>
            <a:srgbClr val="142341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2" y="160934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E74C3C"/>
                </a:solidFill>
                <a:latin typeface="Calibri"/>
              </a:rPr>
              <a:t>Korsakoff (KS)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103120" cy="676656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75104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EDF5"/>
                </a:solidFill>
                <a:latin typeface="Calibri"/>
              </a:rPr>
              <a:t>Ban chat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1920240"/>
            <a:ext cx="4389120" cy="676656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975104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Cap tinh — CO THE dao nguoc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920240"/>
            <a:ext cx="4389120" cy="676656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2592" y="1975104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Man tinh (di chung) — phan lon KHONG dao nguoc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96896"/>
            <a:ext cx="2103120" cy="676656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651760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EDF5"/>
                </a:solidFill>
                <a:latin typeface="Calibri"/>
              </a:rPr>
              <a:t>Co 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596896"/>
            <a:ext cx="4389120" cy="676656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2651760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Thieu Thiamin (B1) cap tinh đot ngot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2596896"/>
            <a:ext cx="4389120" cy="676656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2592" y="2651760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Ton thuong cau truc nao vinh vien do WE khong dieu tri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73552"/>
            <a:ext cx="2103120" cy="676656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328416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EDF5"/>
                </a:solidFill>
                <a:latin typeface="Calibri"/>
              </a:rPr>
              <a:t>Trieu chung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3273552"/>
            <a:ext cx="4389120" cy="676656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3472" y="3328416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Tam chung:
- Roi loan van dong mat
- That dieu tieu nao
- Lu lan cap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273552"/>
            <a:ext cx="4389120" cy="676656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3328416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- Mat tri nho toan the
- Bia chuyen (Confabulation)
- Tho 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50208"/>
            <a:ext cx="2103120" cy="676656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4005072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EDF5"/>
                </a:solidFill>
                <a:latin typeface="Calibri"/>
              </a:rPr>
              <a:t>Vung ton thuong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950208"/>
            <a:ext cx="4389120" cy="676656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33472" y="4005072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Phu quanh cong nao, nao that III,IV
The vu, doi thi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3950208"/>
            <a:ext cx="4389120" cy="676656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4005072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Teo vinh vien the vu, nhan doi thi
Mat nO-ron nghiem trong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626864"/>
            <a:ext cx="2103120" cy="676656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681728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EDF5"/>
                </a:solidFill>
                <a:latin typeface="Calibri"/>
              </a:rPr>
              <a:t>Dieu tri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4626864"/>
            <a:ext cx="4389120" cy="676656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33472" y="4681728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Dap ung nhanh voi Thiamin B1 lieu cao IV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4626864"/>
            <a:ext cx="4389120" cy="676656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22592" y="4681728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Khong hieu qua voi thuoc
Phuc hoi phu thuoc ngung ruou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303520"/>
            <a:ext cx="2103120" cy="676656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5358384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E8EDF5"/>
                </a:solidFill>
                <a:latin typeface="Calibri"/>
              </a:rPr>
              <a:t>Moi quan 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5303520"/>
            <a:ext cx="4389120" cy="676656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33472" y="5358384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Giai doan cap tinh tien 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5303520"/>
            <a:ext cx="4389120" cy="676656"/>
          </a:xfrm>
          <a:prstGeom prst="rect">
            <a:avLst/>
          </a:prstGeom>
          <a:solidFill>
            <a:srgbClr val="0A1628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22592" y="5358384"/>
            <a:ext cx="4297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A8BA5"/>
                </a:solidFill>
                <a:latin typeface="Calibri"/>
              </a:rPr>
              <a:t>~80% benh nhan WE nghien ruou → KS neu khong dieu tri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914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>
                <a:solidFill>
                  <a:srgbClr val="0F1E3C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EDF5"/>
                </a:solidFill>
                <a:latin typeface="Calibri"/>
              </a:rPr>
              <a:t>Thich nghi than kinh
va Vong lap Nghien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4297680"/>
            <a:ext cx="100584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A5"/>
                </a:solidFill>
                <a:latin typeface="Calibri"/>
              </a:rPr>
              <a:t>Tai sao nao bo lai 'bay' nguoi uong vao vong nghien?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Não Bộ Tự Điều Chỉnh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00200"/>
            <a:ext cx="3520440" cy="3749039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Dung nap (Tolerance)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76272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A5"/>
                </a:solidFill>
                <a:latin typeface="Calibri"/>
              </a:rPr>
              <a:t>Khi tiep xuc ruou lap lai, nao dieu chinh de thich nghi voi ethanol.
→ Can NHIEU ruou hon de dat tac dung tuong tu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0248" y="1600200"/>
            <a:ext cx="3520440" cy="3749039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Calibri"/>
              </a:rPr>
              <a:t>Hoi chung cai (Withdrawal)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2176272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A5"/>
                </a:solidFill>
                <a:latin typeface="Calibri"/>
              </a:rPr>
              <a:t>Ngung ruou dot ngot → mat can bang hung phan/uc che:
- Run ray · Lo au · Mat ngu
- Nang: Co giat — nguy hiem tinh mang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7576" y="1600200"/>
            <a:ext cx="3520440" cy="3749039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Calibri"/>
              </a:rPr>
              <a:t>Thay doi dong luc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2176272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8BA5"/>
                </a:solidFill>
                <a:latin typeface="Calibri"/>
              </a:rPr>
              <a:t>Dong luc uong chuyen huong:
Tu: tim kiem cam giac de chiu
Sang: uong de giam kho chiu khi thieu ruou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Vòng Lặp Nghiện Rượu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1600200"/>
            <a:ext cx="4754880" cy="137160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94760" y="169164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1. Uong Say / Phan Thuong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2075688"/>
            <a:ext cx="4526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A8BA5"/>
                </a:solidFill>
                <a:latin typeface="Calibri"/>
              </a:rPr>
              <a:t>Trai nghiem de chiu · Dopamine tang
Cung co hanh vi lap lai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971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D7AF5"/>
                </a:solidFill>
                <a:latin typeface="Calibri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172968"/>
            <a:ext cx="4754880" cy="137160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326440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Calibri"/>
              </a:rPr>
              <a:t>2. Cam Xuc Tieu Cuc / Cai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648456"/>
            <a:ext cx="4526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A8BA5"/>
                </a:solidFill>
                <a:latin typeface="Calibri"/>
              </a:rPr>
              <a:t>Kho chiu the chat &amp; cam xuc khi khong co ruou
→ Uong de giam nhe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5445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D7AF5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4745736"/>
            <a:ext cx="4754880" cy="137160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4837176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74C3C"/>
                </a:solidFill>
                <a:latin typeface="Calibri"/>
              </a:rPr>
              <a:t>3. Am Anh / Them Muon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5221224"/>
            <a:ext cx="4526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A8BA5"/>
                </a:solidFill>
                <a:latin typeface="Calibri"/>
              </a:rPr>
              <a:t>Tin hieu goi (dia diem, ban be, stress)
→ Them muon cuong 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600200"/>
            <a:ext cx="3017520" cy="2011680"/>
          </a:xfrm>
          <a:prstGeom prst="rect">
            <a:avLst/>
          </a:prstGeom>
          <a:solidFill>
            <a:srgbClr val="00233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645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Vi du:
Anh A bi vo mang -&gt; buc boi -&gt; ra quan ruou giai toa voi ban be.
-&gt; Hanh vi duoc cung co: moi khi stress, nao lai goi 'giai phap' la ruou.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017520" cy="1188720"/>
          </a:xfrm>
          <a:prstGeom prst="rect">
            <a:avLst/>
          </a:prstGeom>
          <a:solidFill>
            <a:srgbClr val="002823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404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F5D4"/>
                </a:solidFill>
                <a:latin typeface="Calibri"/>
              </a:rPr>
              <a:t>Day la mo hinh khai quat — khong phai trinh tu bat buoc, khong giong nhau o moi nguoi.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0" y="914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0" b="1">
                <a:solidFill>
                  <a:srgbClr val="0F1E3C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EDF5"/>
                </a:solidFill>
                <a:latin typeface="Calibri"/>
              </a:rPr>
              <a:t>Điều Trị &amp; Phục Hồi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4297680"/>
            <a:ext cx="100584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8BA5"/>
                </a:solidFill>
                <a:latin typeface="Calibri"/>
              </a:rPr>
              <a:t>Phục hồi là quá trình lâu dài, cần nhiều phương pháp kết hợp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Điều Trị Rối Loạn Sử Dụng Rượu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00200"/>
            <a:ext cx="11183112" cy="8229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Giai doc (Detoxification)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73352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Giai doan dau, can ho tro y te de xu ly hoi chung cai an toan — phong ngua co giat.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14600"/>
            <a:ext cx="11183112" cy="8229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Calibri"/>
              </a:rPr>
              <a:t>Dung thuoc (Medication)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87752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Giam them ruou, dieu tri hoi chung cai hoac gay phan ung kho chiu khi dung ruou (disulfiram, naltrexone, acamprosate...)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29000"/>
            <a:ext cx="11183112" cy="8229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5D4"/>
                </a:solidFill>
                <a:latin typeface="Calibri"/>
              </a:rPr>
              <a:t>Lieu phap Nhan thuc Hanh vi (CBT)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502152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Nhan dien va thay doi suy nghi, cam xuc, hanh vi duy tri viec uong. Phat trien ky nang doi pho voi stress va tinh huong nguy co cao.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343400"/>
            <a:ext cx="11183112" cy="8229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34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59B6"/>
                </a:solidFill>
                <a:latin typeface="Calibri"/>
              </a:rPr>
              <a:t>Lieu phap Chap nhan &amp; Cam ket (ACT)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16552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Hoc cach doi dien voi cam xuc kho chiu ma khong hanh dong theo chung. Song phu hop voi gia tri ca nhan.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257800"/>
            <a:ext cx="11183112" cy="82296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  <a:latin typeface="Calibri"/>
              </a:rPr>
              <a:t>Ho tro Tam ly-Xa hoi &amp; Phong van Tao Dong luc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330952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Tang dong luc thay doi va cung co hanh trinh phuc hoi qua ho tro chuyen gia va cong dong.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EDF5"/>
                </a:solidFill>
                <a:latin typeface="Calibri"/>
              </a:rPr>
              <a:t>Những điểm cần nhớ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3288" y="1444752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719072"/>
            <a:ext cx="2029968" cy="34747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56232"/>
            <a:ext cx="1801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Calibri"/>
              </a:rPr>
              <a:t>Cơ chế kép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8013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Ethanol vừa TĂNG GABA (phanh),
vừa ức chế Glutamate (nhả ga)</a:t>
            </a:r>
          </a:p>
        </p:txBody>
      </p:sp>
      <p:sp>
        <p:nvSpPr>
          <p:cNvPr id="7" name="Rectangle 6"/>
          <p:cNvSpPr/>
          <p:nvPr/>
        </p:nvSpPr>
        <p:spPr>
          <a:xfrm>
            <a:off x="2642616" y="1719072"/>
            <a:ext cx="2029968" cy="34747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9776" y="1856232"/>
            <a:ext cx="1801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5D4"/>
                </a:solidFill>
                <a:latin typeface="Calibri"/>
              </a:rPr>
              <a:t>Nhiều vùng não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9776" y="2331720"/>
            <a:ext cx="18013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6 vùng bị ảnh hưởng khác nhau:
hành vi, cảm xúc, trí nhớ,
vận động, sống còn, nội môi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8032" y="1719072"/>
            <a:ext cx="2029968" cy="34747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856232"/>
            <a:ext cx="1801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Calibri"/>
              </a:rPr>
              <a:t>Tổn thương tích lũ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2331720"/>
            <a:ext cx="18013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Tổn thương não vĩnh viễn có thể xảy ra:
teo não, WKS, sa sút trí tuệ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3448" y="1719072"/>
            <a:ext cx="2029968" cy="34747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1856232"/>
            <a:ext cx="1801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59B6"/>
                </a:solidFill>
                <a:latin typeface="Calibri"/>
              </a:rPr>
              <a:t>Nghiện là bệnh 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331720"/>
            <a:ext cx="18013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Thích nghi thần kinh
→ vòng lặp nghiện
→ cần điều trị chuyên khoa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98864" y="1719072"/>
            <a:ext cx="2029968" cy="347472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1856232"/>
            <a:ext cx="1801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  <a:latin typeface="Calibri"/>
              </a:rPr>
              <a:t>Phục hồi là khả thi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6024" y="2331720"/>
            <a:ext cx="18013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8BA5"/>
                </a:solidFill>
                <a:latin typeface="Calibri"/>
              </a:rPr>
              <a:t>Kết hợp giải độc, thuốc,
CBT, ACT và hỗ trợ xã hội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68112"/>
            <a:ext cx="11274552" cy="658368"/>
          </a:xfrm>
          <a:prstGeom prst="rect">
            <a:avLst/>
          </a:prstGeom>
          <a:solidFill>
            <a:srgbClr val="00322D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522976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5D4"/>
                </a:solidFill>
                <a:latin typeface="Calibri"/>
              </a:rPr>
              <a:t>Hiểu não bộ là bước đầu tiên — để đưa ra lựa chọn sáng suốt hơn về sức khỏe của chính mình.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463040"/>
            <a:ext cx="2130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00D4FF"/>
                </a:solidFill>
                <a:latin typeface="Calibri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E8EDF5"/>
                </a:solidFill>
                <a:latin typeface="Calibri"/>
              </a:rPr>
              <a:t>Câu hỏi 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10128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D4FF"/>
                </a:solidFill>
                <a:latin typeface="Calibri"/>
              </a:rPr>
              <a:t>Thảo luận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4251960"/>
            <a:ext cx="10058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43484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A8BA5"/>
                </a:solidFill>
                <a:latin typeface="Calibri"/>
              </a:rPr>
              <a:t>Cảm ơn đã lắng nghe!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1448" y="4983480"/>
            <a:ext cx="2286000" cy="123444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32888" y="5029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D4FF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565099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BA5"/>
                </a:solidFill>
                <a:latin typeface="Calibri"/>
              </a:rPr>
              <a:t>6 Vung nao
bi anh huong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648" y="4983480"/>
            <a:ext cx="2286000" cy="123444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6088" y="5029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D4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565099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BA5"/>
                </a:solidFill>
                <a:latin typeface="Calibri"/>
              </a:rPr>
              <a:t>2 He thong
dan truyen chinh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7848" y="4983480"/>
            <a:ext cx="2286000" cy="1234440"/>
          </a:xfrm>
          <a:prstGeom prst="rect">
            <a:avLst/>
          </a:prstGeom>
          <a:solidFill>
            <a:srgbClr val="12203C"/>
          </a:solidFill>
          <a:ln w="1270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5029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D4FF"/>
                </a:solidFill>
                <a:latin typeface="Calibri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565099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8BA5"/>
                </a:solidFill>
                <a:latin typeface="Calibri"/>
              </a:rPr>
              <a:t>80% benh nhan WE
-&gt; KS neu khong DT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